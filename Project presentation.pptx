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57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CD8"/>
    <a:srgbClr val="EDDD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5F307-D681-412B-A93C-A839510A25AD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D3A86-A190-441D-A3C6-D8509400386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5955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1F6E2-713A-8F67-C681-09581239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0FA32-FEBF-79C9-A13E-D5C4D86DD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5CC1E-29B2-1444-DA0E-61BE00911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F0777-6117-6302-8DE6-8E1567256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1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9E73D5-FB39-75DF-75B6-866119158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7FA64F2-75D1-D118-F3D7-E1C0E3757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8C2637E-AE0E-B612-54AC-673A057D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82BF753-8DC3-3328-02F6-F13DB597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1B92C87-618A-DEEE-1B8A-E8ABBDEE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8448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8249D0-D0F0-DB77-6D6C-31A82F8D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9164CC-B384-277E-0B2F-59736232B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CAFBCE9-EC54-1E2E-001A-5127F259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B8D4B5C-2C39-BE93-4660-6DBB84C5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3E0BFD9-C6A0-F3BC-1BCB-E64B1F2D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291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50268F-1748-2B27-ED76-B7C247E42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560D547-9F3C-0C19-60AB-93BE3AAC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57FA733-F544-505A-FC9C-8DF60385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FD861C8-9840-28AB-0F24-68847096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8406314-D688-86E5-9B2C-AD94274A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932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FB3138-2226-4C3B-06D3-19252BBE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23A9BE1-0FA8-107A-2ADC-8D4A428EF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DEAE37A-C49D-A960-F62D-F03B5475F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F45B82-0A87-9D65-9964-9F5D9B7D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7BACF74-55D7-A069-83D7-7C83DFDE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FB1B30F-2B83-FD09-2DF4-8E0E52EF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409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D7FD0A-3EE1-C07C-7DCD-4F307C9F2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C65B81D-76D4-4B56-0719-CFA508FC6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42DC977-A0DE-7CAA-60EA-F1F53CFE1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9E7F4F1-7B42-0200-7DDE-63536B56E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1C4CBF2-90E6-7131-363A-B7E7AF150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CD108A0-12BE-5870-73FA-5ACEFD161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27D7A87-9F5B-EFCD-EE07-5D765FF7C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FC00DF1-719C-4129-69CB-E190275D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965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2FA459-2439-9167-A777-5D8EDE75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6D38FE8-9A28-AB37-FEC8-B9AA58F9C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1F5C86D-7EF7-CB03-3E10-97CF4023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20BF869-8288-D508-A74E-707B1F19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061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1E409E9-980C-5EC5-1045-AD17E34A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4E04ABB-D534-3386-D88D-82D05CB9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C53DBA5-BCE0-4D81-0B98-F1653DF1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134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3A44AD-7483-F8A7-D527-03ABB15C9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7E2E0AF-0380-7206-719A-5C9BBAAD5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E4CCF52-EE4C-5251-0674-7673C791A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17DA6CA-08BB-A475-4FE0-7F3ADC59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5EA083A-EACC-F93D-264B-60E95102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27ADC85-6B8F-0AFA-CCAC-76B1D0EB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573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3D479F-F928-2FD4-732E-B94FBE5FA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A31294A-214B-41DD-8267-89EF46669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F506834-4E37-076C-6263-AD303C8DA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10570B-A3E4-322C-5E19-719ED026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6E966FF-CC85-C533-C181-2E72E3DEA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802E581-0555-1A47-6E37-EC86B838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863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3AF984-A85B-72C0-3746-BDB981A3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4562F15-06A4-749D-ED07-4BA8AD81F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5D91985-3A3B-5BC4-D4F6-227CEBB9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9622E87-6AEE-84E7-8AD1-D5F3D259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617CBC2-ECC6-D350-7E47-006E1E36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353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CA443E8-15E0-EA6B-F2FF-EDB4E4095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D095816-AC85-52CD-75F2-E2670BAF3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4E0DE5-2FB4-CDA0-A154-9AD1B195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E2E6591-14A5-0E26-4E19-FF2396E0A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C5D7B57-DE46-507A-3ABB-35B59B2E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8917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41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280807B-5236-AD72-FA0B-E6AFAAA1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BBC9065-EDFF-CEE5-6B02-7358BCD63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0BCCFDF-9873-1118-6714-2FCC7701B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44B90-4651-497A-A624-B406058F61FE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02234D-7502-1727-E3B0-B5BF606E6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FD7998-60C6-2AA1-9B27-9D2654A16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F461C-B966-40AC-BAD8-789026C93E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6602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FD51CB0-2801-260D-7352-D90A89FFB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013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br>
              <a:rPr lang="pl-PL" sz="4000" dirty="0"/>
            </a:br>
            <a:r>
              <a:rPr lang="en-US" sz="4000" dirty="0"/>
              <a:t> </a:t>
            </a:r>
            <a:r>
              <a:rPr lang="en-US" sz="4000" i="1" dirty="0"/>
              <a:t>Bayesian agent-based model of infectious disease transmission in an urban center </a:t>
            </a:r>
            <a:endParaRPr lang="pl-PL" sz="4000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FB4BE84-E0AA-E11B-A2A1-60C47009A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endParaRPr lang="pl-PL"/>
          </a:p>
          <a:p>
            <a:pPr algn="l"/>
            <a:r>
              <a:rPr lang="en-US"/>
              <a:t> Alexis Grangier -- 229735 </a:t>
            </a:r>
            <a:endParaRPr lang="pl-PL"/>
          </a:p>
          <a:p>
            <a:pPr algn="l"/>
            <a:r>
              <a:rPr lang="en-US"/>
              <a:t>Anna Jurek -- 26176340</a:t>
            </a:r>
            <a:endParaRPr lang="pl-PL"/>
          </a:p>
        </p:txBody>
      </p:sp>
      <p:pic>
        <p:nvPicPr>
          <p:cNvPr id="9" name="Graphic 8" descr="Miasto">
            <a:extLst>
              <a:ext uri="{FF2B5EF4-FFF2-40B4-BE49-F238E27FC236}">
                <a16:creationId xmlns:a16="http://schemas.microsoft.com/office/drawing/2014/main" id="{B019540A-3075-48C6-A73A-51C0194F1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51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3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A9E1D71-F9AD-3B34-C48F-A0CBD0E33B44}"/>
              </a:ext>
            </a:extLst>
          </p:cNvPr>
          <p:cNvSpPr/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5905C90C-D54B-649B-53F4-853F9A0BC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210159"/>
              </p:ext>
            </p:extLst>
          </p:nvPr>
        </p:nvGraphicFramePr>
        <p:xfrm>
          <a:off x="1419540" y="1825625"/>
          <a:ext cx="9352920" cy="4351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19157">
                  <a:extLst>
                    <a:ext uri="{9D8B030D-6E8A-4147-A177-3AD203B41FA5}">
                      <a16:colId xmlns:a16="http://schemas.microsoft.com/office/drawing/2014/main" val="1258938576"/>
                    </a:ext>
                  </a:extLst>
                </a:gridCol>
                <a:gridCol w="4733763">
                  <a:extLst>
                    <a:ext uri="{9D8B030D-6E8A-4147-A177-3AD203B41FA5}">
                      <a16:colId xmlns:a16="http://schemas.microsoft.com/office/drawing/2014/main" val="492368045"/>
                    </a:ext>
                  </a:extLst>
                </a:gridCol>
              </a:tblGrid>
              <a:tr h="409101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buNone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Individuals</a:t>
                      </a:r>
                      <a:endParaRPr lang="pl-P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Health Ministry</a:t>
                      </a:r>
                      <a:endParaRPr lang="pl-P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extLst>
                  <a:ext uri="{0D108BD9-81ED-4DB2-BD59-A6C34878D82A}">
                    <a16:rowId xmlns:a16="http://schemas.microsoft.com/office/drawing/2014/main" val="1825012484"/>
                  </a:ext>
                </a:extLst>
              </a:tr>
              <a:tr h="40910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CA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Susceptible (not infected)</a:t>
                      </a:r>
                      <a:endParaRPr lang="pl-P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buNone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 </a:t>
                      </a:r>
                      <a:endParaRPr lang="pl-P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extLst>
                  <a:ext uri="{0D108BD9-81ED-4DB2-BD59-A6C34878D82A}">
                    <a16:rowId xmlns:a16="http://schemas.microsoft.com/office/drawing/2014/main" val="3418967009"/>
                  </a:ext>
                </a:extLst>
              </a:tr>
              <a:tr h="78101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CA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Incubating </a:t>
                      </a:r>
                      <a:endParaRPr lang="pl-P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Alert state 1 (lowly coercive measures)</a:t>
                      </a:r>
                      <a:endParaRPr lang="pl-P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extLst>
                  <a:ext uri="{0D108BD9-81ED-4DB2-BD59-A6C34878D82A}">
                    <a16:rowId xmlns:a16="http://schemas.microsoft.com/office/drawing/2014/main" val="1010353114"/>
                  </a:ext>
                </a:extLst>
              </a:tr>
              <a:tr h="78101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Infectious asymptomatic</a:t>
                      </a:r>
                      <a:endParaRPr lang="pl-P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Alert state 2 (medium coercive measures)</a:t>
                      </a:r>
                      <a:endParaRPr lang="pl-P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extLst>
                  <a:ext uri="{0D108BD9-81ED-4DB2-BD59-A6C34878D82A}">
                    <a16:rowId xmlns:a16="http://schemas.microsoft.com/office/drawing/2014/main" val="197110572"/>
                  </a:ext>
                </a:extLst>
              </a:tr>
              <a:tr h="78101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Infectious symptomatic</a:t>
                      </a:r>
                      <a:endParaRPr lang="pl-P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Alert state 3 (highly coercive measures)</a:t>
                      </a:r>
                      <a:endParaRPr lang="pl-P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extLst>
                  <a:ext uri="{0D108BD9-81ED-4DB2-BD59-A6C34878D82A}">
                    <a16:rowId xmlns:a16="http://schemas.microsoft.com/office/drawing/2014/main" val="64926431"/>
                  </a:ext>
                </a:extLst>
              </a:tr>
              <a:tr h="78101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Recovered (immune for 6 months)</a:t>
                      </a:r>
                      <a:endParaRPr lang="pl-P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buNone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l-P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extLst>
                  <a:ext uri="{0D108BD9-81ED-4DB2-BD59-A6C34878D82A}">
                    <a16:rowId xmlns:a16="http://schemas.microsoft.com/office/drawing/2014/main" val="2789216474"/>
                  </a:ext>
                </a:extLst>
              </a:tr>
              <a:tr h="40910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Dead</a:t>
                      </a:r>
                      <a:endParaRPr lang="pl-PL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buNone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l-PL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1915" marR="181915" marT="0" marB="0"/>
                </a:tc>
                <a:extLst>
                  <a:ext uri="{0D108BD9-81ED-4DB2-BD59-A6C34878D82A}">
                    <a16:rowId xmlns:a16="http://schemas.microsoft.com/office/drawing/2014/main" val="4201249103"/>
                  </a:ext>
                </a:extLst>
              </a:tr>
            </a:tbl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C9103844-DB54-8DB6-6F48-FEB4942EF1DA}"/>
              </a:ext>
            </a:extLst>
          </p:cNvPr>
          <p:cNvSpPr/>
          <p:nvPr/>
        </p:nvSpPr>
        <p:spPr>
          <a:xfrm>
            <a:off x="609600" y="34137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/>
              <a:t>Entities and state variable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9958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Agent Attributes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609600" y="107289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carries the following properties, fixed at initialization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73152" cy="2072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6" name="Text 4"/>
          <p:cNvSpPr/>
          <p:nvPr/>
        </p:nvSpPr>
        <p:spPr>
          <a:xfrm>
            <a:off x="71932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🏘</a:t>
            </a:r>
            <a:endParaRPr lang="en-US" sz="2667" dirty="0"/>
          </a:p>
        </p:txBody>
      </p:sp>
      <p:sp>
        <p:nvSpPr>
          <p:cNvPr id="7" name="Text 5"/>
          <p:cNvSpPr/>
          <p:nvPr/>
        </p:nvSpPr>
        <p:spPr>
          <a:xfrm>
            <a:off x="719328" y="2365248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9328" y="2779776"/>
            <a:ext cx="32674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zone assigned at initialization and fixed throughout the simulation</a:t>
            </a:r>
            <a:endParaRPr 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03776" y="1609344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0" name="Shape 8"/>
          <p:cNvSpPr/>
          <p:nvPr/>
        </p:nvSpPr>
        <p:spPr>
          <a:xfrm>
            <a:off x="4303776" y="1609344"/>
            <a:ext cx="73152" cy="2072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1" name="Text 9"/>
          <p:cNvSpPr/>
          <p:nvPr/>
        </p:nvSpPr>
        <p:spPr>
          <a:xfrm>
            <a:off x="447446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🏢</a:t>
            </a:r>
            <a:endParaRPr lang="en-US" sz="2667" dirty="0"/>
          </a:p>
        </p:txBody>
      </p:sp>
      <p:sp>
        <p:nvSpPr>
          <p:cNvPr id="12" name="Text 10"/>
          <p:cNvSpPr/>
          <p:nvPr/>
        </p:nvSpPr>
        <p:spPr>
          <a:xfrm>
            <a:off x="4474464" y="2365248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work_place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74464" y="2779776"/>
            <a:ext cx="32674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zone assigned at initialization and fixed throughout the simulation</a:t>
            </a:r>
            <a:endParaRPr 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58912" y="1609344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5" name="Shape 13"/>
          <p:cNvSpPr/>
          <p:nvPr/>
        </p:nvSpPr>
        <p:spPr>
          <a:xfrm>
            <a:off x="8058912" y="1609344"/>
            <a:ext cx="73152" cy="2072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6" name="Text 14"/>
          <p:cNvSpPr/>
          <p:nvPr/>
        </p:nvSpPr>
        <p:spPr>
          <a:xfrm>
            <a:off x="82296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👥</a:t>
            </a:r>
            <a:endParaRPr lang="en-US" sz="2667" dirty="0"/>
          </a:p>
        </p:txBody>
      </p:sp>
      <p:sp>
        <p:nvSpPr>
          <p:cNvPr id="17" name="Text 15"/>
          <p:cNvSpPr/>
          <p:nvPr/>
        </p:nvSpPr>
        <p:spPr>
          <a:xfrm>
            <a:off x="8229600" y="2365248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2779776"/>
            <a:ext cx="32674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bracket of the agent; directly affects the individual fatality rate</a:t>
            </a:r>
            <a:endParaRPr 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901440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20" name="Shape 18"/>
          <p:cNvSpPr/>
          <p:nvPr/>
        </p:nvSpPr>
        <p:spPr>
          <a:xfrm>
            <a:off x="548640" y="3901440"/>
            <a:ext cx="73152" cy="2072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21" name="Text 19"/>
          <p:cNvSpPr/>
          <p:nvPr/>
        </p:nvSpPr>
        <p:spPr>
          <a:xfrm>
            <a:off x="719328" y="412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🚌</a:t>
            </a:r>
            <a:endParaRPr lang="en-US" sz="2667" dirty="0"/>
          </a:p>
        </p:txBody>
      </p:sp>
      <p:sp>
        <p:nvSpPr>
          <p:cNvPr id="22" name="Text 20"/>
          <p:cNvSpPr/>
          <p:nvPr/>
        </p:nvSpPr>
        <p:spPr>
          <a:xfrm>
            <a:off x="719328" y="4657344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transport_pref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328" y="5071872"/>
            <a:ext cx="32674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mode of transport when commuting to work each morning</a:t>
            </a:r>
            <a:endParaRPr 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03776" y="3901440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25" name="Shape 23"/>
          <p:cNvSpPr/>
          <p:nvPr/>
        </p:nvSpPr>
        <p:spPr>
          <a:xfrm>
            <a:off x="4303776" y="3901440"/>
            <a:ext cx="73152" cy="2072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26" name="Text 24"/>
          <p:cNvSpPr/>
          <p:nvPr/>
        </p:nvSpPr>
        <p:spPr>
          <a:xfrm>
            <a:off x="4474464" y="412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📢</a:t>
            </a:r>
            <a:endParaRPr lang="en-US" sz="2667" dirty="0"/>
          </a:p>
        </p:txBody>
      </p:sp>
      <p:sp>
        <p:nvSpPr>
          <p:cNvPr id="27" name="Text 25"/>
          <p:cNvSpPr/>
          <p:nvPr/>
        </p:nvSpPr>
        <p:spPr>
          <a:xfrm>
            <a:off x="4474464" y="4657344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sensibility_plan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464" y="5071872"/>
            <a:ext cx="32674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 to public health campaigns; drawn from a residence-level prior at initialization</a:t>
            </a:r>
            <a:endParaRPr 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58912" y="3901440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30" name="Shape 28"/>
          <p:cNvSpPr/>
          <p:nvPr/>
        </p:nvSpPr>
        <p:spPr>
          <a:xfrm>
            <a:off x="8058912" y="3901440"/>
            <a:ext cx="73152" cy="2072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31" name="Text 29"/>
          <p:cNvSpPr/>
          <p:nvPr/>
        </p:nvSpPr>
        <p:spPr>
          <a:xfrm>
            <a:off x="8229600" y="412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🩺</a:t>
            </a:r>
            <a:endParaRPr lang="en-US" sz="2667" dirty="0"/>
          </a:p>
        </p:txBody>
      </p:sp>
      <p:sp>
        <p:nvSpPr>
          <p:cNvPr id="32" name="Text 30"/>
          <p:cNvSpPr/>
          <p:nvPr/>
        </p:nvSpPr>
        <p:spPr>
          <a:xfrm>
            <a:off x="8229600" y="4657344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0" y="5071872"/>
            <a:ext cx="32674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— whether the agent visits a doctor when symptomatic; doctor always reports to the health ministry</a:t>
            </a:r>
            <a:endParaRPr 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10936616-CCB0-D64A-3BD7-899A7859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018" y="1165094"/>
            <a:ext cx="4591338" cy="4744115"/>
          </a:xfrm>
          <a:prstGeom prst="rect">
            <a:avLst/>
          </a:prstGeom>
        </p:spPr>
      </p:pic>
      <p:sp>
        <p:nvSpPr>
          <p:cNvPr id="9" name="Symbol zastępczy zawartości 8">
            <a:extLst>
              <a:ext uri="{FF2B5EF4-FFF2-40B4-BE49-F238E27FC236}">
                <a16:creationId xmlns:a16="http://schemas.microsoft.com/office/drawing/2014/main" id="{800A852B-D9B8-6FC0-DFC7-2289F7868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5720"/>
            <a:ext cx="4058265" cy="2762865"/>
          </a:xfrm>
        </p:spPr>
        <p:txBody>
          <a:bodyPr/>
          <a:lstStyle/>
          <a:p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730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ticks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365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pl-PL" sz="2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100 x 100 (max 5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per cel</a:t>
            </a:r>
          </a:p>
          <a:p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5000</a:t>
            </a:r>
          </a:p>
          <a:p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ticks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r>
              <a:rPr lang="pl-PL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update</a:t>
            </a:r>
            <a:endParaRPr lang="en-US" sz="2400" dirty="0"/>
          </a:p>
          <a:p>
            <a:endParaRPr lang="pl-PL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1AAE843-3C8F-25A4-69F5-E71768E8CCE7}"/>
              </a:ext>
            </a:extLst>
          </p:cNvPr>
          <p:cNvSpPr/>
          <p:nvPr/>
        </p:nvSpPr>
        <p:spPr>
          <a:xfrm>
            <a:off x="609600" y="34137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</a:t>
            </a:r>
            <a:r>
              <a:rPr lang="pl-PL" sz="3733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3733" dirty="0"/>
          </a:p>
        </p:txBody>
      </p:sp>
    </p:spTree>
    <p:extLst>
      <p:ext uri="{BB962C8B-B14F-4D97-AF65-F5344CB8AC3E}">
        <p14:creationId xmlns:p14="http://schemas.microsoft.com/office/powerpoint/2010/main" val="299456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6" name="Shape 4"/>
          <p:cNvSpPr/>
          <p:nvPr/>
        </p:nvSpPr>
        <p:spPr>
          <a:xfrm>
            <a:off x="548640" y="1609344"/>
            <a:ext cx="85344" cy="2072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7" name="Text 5"/>
          <p:cNvSpPr/>
          <p:nvPr/>
        </p:nvSpPr>
        <p:spPr>
          <a:xfrm>
            <a:off x="719328" y="1780032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9328" y="2340864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328" y="2767584"/>
            <a:ext cx="32674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and strength of epidemic waves, and activation of public health interventions, arise from bottom-up agent behavior.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03776" y="1609344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1" name="Shape 9"/>
          <p:cNvSpPr/>
          <p:nvPr/>
        </p:nvSpPr>
        <p:spPr>
          <a:xfrm>
            <a:off x="4303776" y="1609344"/>
            <a:ext cx="85344" cy="2072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2" name="Text 10"/>
          <p:cNvSpPr/>
          <p:nvPr/>
        </p:nvSpPr>
        <p:spPr>
          <a:xfrm>
            <a:off x="4474464" y="1780032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74464" y="2340864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4464" y="2767584"/>
            <a:ext cx="32674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reduce commuting probability in response to active health plans set by the ministry.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58912" y="1609344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6" name="Shape 14"/>
          <p:cNvSpPr/>
          <p:nvPr/>
        </p:nvSpPr>
        <p:spPr>
          <a:xfrm>
            <a:off x="8058912" y="1609344"/>
            <a:ext cx="85344" cy="2072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17" name="Text 15"/>
          <p:cNvSpPr/>
          <p:nvPr/>
        </p:nvSpPr>
        <p:spPr>
          <a:xfrm>
            <a:off x="8229600" y="1780032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0" y="2340864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2767584"/>
            <a:ext cx="32674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agents are unaware of their infectious state. Symptomatic agents know they can infect others.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901440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21" name="Shape 19"/>
          <p:cNvSpPr/>
          <p:nvPr/>
        </p:nvSpPr>
        <p:spPr>
          <a:xfrm>
            <a:off x="548640" y="3901440"/>
            <a:ext cx="85344" cy="2072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22" name="Text 20"/>
          <p:cNvSpPr/>
          <p:nvPr/>
        </p:nvSpPr>
        <p:spPr>
          <a:xfrm>
            <a:off x="719328" y="407212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000000"/>
                </a:solidFill>
              </a:rPr>
              <a:t>🎲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9328" y="4632960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9328" y="5059680"/>
            <a:ext cx="32674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events, state transitions, mobility decisions, and medical consultations use Bernoulli trial random draws.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03776" y="3901440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26" name="Shape 24"/>
          <p:cNvSpPr/>
          <p:nvPr/>
        </p:nvSpPr>
        <p:spPr>
          <a:xfrm>
            <a:off x="4303776" y="3901440"/>
            <a:ext cx="85344" cy="2072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27" name="Text 25"/>
          <p:cNvSpPr/>
          <p:nvPr/>
        </p:nvSpPr>
        <p:spPr>
          <a:xfrm>
            <a:off x="4474464" y="407212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474464" y="4632960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74464" y="5059680"/>
            <a:ext cx="32674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of the denser periphery have lower responsiveness to containment measures, reflecting socio-economic info asymmetry.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58912" y="3901440"/>
            <a:ext cx="3535680" cy="2072640"/>
          </a:xfrm>
          <a:prstGeom prst="rect">
            <a:avLst/>
          </a:prstGeom>
          <a:solidFill>
            <a:srgbClr val="F9FCD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31" name="Shape 29"/>
          <p:cNvSpPr/>
          <p:nvPr/>
        </p:nvSpPr>
        <p:spPr>
          <a:xfrm>
            <a:off x="8058912" y="3901440"/>
            <a:ext cx="85344" cy="2072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l-PL" sz="2400"/>
          </a:p>
        </p:txBody>
      </p:sp>
      <p:sp>
        <p:nvSpPr>
          <p:cNvPr id="32" name="Text 30"/>
          <p:cNvSpPr/>
          <p:nvPr/>
        </p:nvSpPr>
        <p:spPr>
          <a:xfrm>
            <a:off x="8229600" y="407212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229600" y="4632960"/>
            <a:ext cx="32674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9600" y="5059680"/>
            <a:ext cx="32674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infected, susceptible, exposed, infected, recovered and dead agents counted at every step. Peak incidence and timing recorded.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5704C3AE-0796-568B-99DD-ACD50D7ED119}"/>
              </a:ext>
            </a:extLst>
          </p:cNvPr>
          <p:cNvSpPr/>
          <p:nvPr/>
        </p:nvSpPr>
        <p:spPr>
          <a:xfrm>
            <a:off x="609600" y="34137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Concepts</a:t>
            </a:r>
            <a:endParaRPr lang="en-US" sz="37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9476D-BCF7-4937-DFEA-FB077692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BCAA3C8-BA53-C2E2-DF2F-49D8B4E43896}"/>
              </a:ext>
            </a:extLst>
          </p:cNvPr>
          <p:cNvSpPr/>
          <p:nvPr/>
        </p:nvSpPr>
        <p:spPr>
          <a:xfrm>
            <a:off x="609600" y="7924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733" dirty="0"/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D7B46869-170D-5396-3765-4C19919ECC90}"/>
              </a:ext>
            </a:extLst>
          </p:cNvPr>
          <p:cNvSpPr/>
          <p:nvPr/>
        </p:nvSpPr>
        <p:spPr>
          <a:xfrm>
            <a:off x="609600" y="34137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3733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3733" dirty="0"/>
          </a:p>
        </p:txBody>
      </p:sp>
    </p:spTree>
    <p:extLst>
      <p:ext uri="{BB962C8B-B14F-4D97-AF65-F5344CB8AC3E}">
        <p14:creationId xmlns:p14="http://schemas.microsoft.com/office/powerpoint/2010/main" val="415546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E21785-62D8-430F-9521-90166EF7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D7CF8A0-D3E4-4A16-87D3-1D973AC6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3296" y="697832"/>
            <a:ext cx="8189484" cy="5541981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C5849B7-B453-82E8-ADAC-14212506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98925"/>
            <a:ext cx="5541054" cy="2149412"/>
          </a:xfrm>
        </p:spPr>
        <p:txBody>
          <a:bodyPr>
            <a:normAutofit/>
          </a:bodyPr>
          <a:lstStyle/>
          <a:p>
            <a:r>
              <a:rPr lang="pl-PL" sz="5200"/>
              <a:t>APP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4A9EFF3-2882-DB4F-9132-9C8787123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191873"/>
          </a:xfrm>
        </p:spPr>
        <p:txBody>
          <a:bodyPr>
            <a:normAutofit/>
          </a:bodyPr>
          <a:lstStyle/>
          <a:p>
            <a:r>
              <a:rPr lang="pl-PL" dirty="0"/>
              <a:t>&lt;link&gt;</a:t>
            </a:r>
          </a:p>
        </p:txBody>
      </p:sp>
    </p:spTree>
    <p:extLst>
      <p:ext uri="{BB962C8B-B14F-4D97-AF65-F5344CB8AC3E}">
        <p14:creationId xmlns:p14="http://schemas.microsoft.com/office/powerpoint/2010/main" val="200097614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346</Words>
  <Application>Microsoft Office PowerPoint</Application>
  <PresentationFormat>Panoramiczny</PresentationFormat>
  <Paragraphs>69</Paragraphs>
  <Slides>7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Consolas</vt:lpstr>
      <vt:lpstr>Motyw pakietu Office</vt:lpstr>
      <vt:lpstr>  Bayesian agent-based model of infectious disease transmission in an urban center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Ania Jurek</dc:creator>
  <cp:lastModifiedBy>Ania Jurek</cp:lastModifiedBy>
  <cp:revision>2</cp:revision>
  <dcterms:created xsi:type="dcterms:W3CDTF">2026-04-29T15:41:39Z</dcterms:created>
  <dcterms:modified xsi:type="dcterms:W3CDTF">2026-04-29T16:20:28Z</dcterms:modified>
</cp:coreProperties>
</file>